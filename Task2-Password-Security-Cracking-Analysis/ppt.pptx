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45" d="100"/>
          <a:sy n="45" d="100"/>
        </p:scale>
        <p:origin x="336"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5BE5A2-CF0E-4DF0-8986-6CD05E5680FD}"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1630578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BE5A2-CF0E-4DF0-8986-6CD05E5680FD}"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2105610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BE5A2-CF0E-4DF0-8986-6CD05E5680FD}"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584466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5BE5A2-CF0E-4DF0-8986-6CD05E5680FD}" type="datetimeFigureOut">
              <a:rPr lang="en-IN" smtClean="0"/>
              <a:t>08-06-2026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1217951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5BE5A2-CF0E-4DF0-8986-6CD05E5680FD}" type="datetimeFigureOut">
              <a:rPr lang="en-IN" smtClean="0"/>
              <a:t>08-06-2026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234015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5BE5A2-CF0E-4DF0-8986-6CD05E5680FD}" type="datetimeFigureOut">
              <a:rPr lang="en-IN" smtClean="0"/>
              <a:t>08-06-2026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657556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BE5A2-CF0E-4DF0-8986-6CD05E5680FD}" type="datetimeFigureOut">
              <a:rPr lang="en-IN" smtClean="0"/>
              <a:t>08-06-2026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3511403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BE5A2-CF0E-4DF0-8986-6CD05E5680FD}" type="datetimeFigureOut">
              <a:rPr lang="en-IN" smtClean="0"/>
              <a:t>08-06-2026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3998969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5BE5A2-CF0E-4DF0-8986-6CD05E5680FD}" type="datetimeFigureOut">
              <a:rPr lang="en-IN" smtClean="0"/>
              <a:t>08-06-2026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3666023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BE5A2-CF0E-4DF0-8986-6CD05E5680FD}"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2460326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BE5A2-CF0E-4DF0-8986-6CD05E5680FD}"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79AAA2-0B8B-4A75-83CA-06853B5C9299}"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621329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BE5A2-CF0E-4DF0-8986-6CD05E5680FD}"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125762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BE5A2-CF0E-4DF0-8986-6CD05E5680FD}"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79AAA2-0B8B-4A75-83CA-06853B5C929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87061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BE5A2-CF0E-4DF0-8986-6CD05E5680FD}"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33228956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BE5A2-CF0E-4DF0-8986-6CD05E5680FD}"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2111338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BE5A2-CF0E-4DF0-8986-6CD05E5680FD}"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79AAA2-0B8B-4A75-83CA-06853B5C9299}" type="slidenum">
              <a:rPr lang="en-IN" smtClean="0"/>
              <a:t>‹#›</a:t>
            </a:fld>
            <a:endParaRPr lang="en-IN"/>
          </a:p>
        </p:txBody>
      </p:sp>
    </p:spTree>
    <p:extLst>
      <p:ext uri="{BB962C8B-B14F-4D97-AF65-F5344CB8AC3E}">
        <p14:creationId xmlns:p14="http://schemas.microsoft.com/office/powerpoint/2010/main" val="2382762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55BE5A2-CF0E-4DF0-8986-6CD05E5680FD}" type="datetimeFigureOut">
              <a:rPr lang="en-IN" smtClean="0"/>
              <a:t>08-06-2026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B79AAA2-0B8B-4A75-83CA-06853B5C9299}" type="slidenum">
              <a:rPr lang="en-IN" smtClean="0"/>
              <a:t>‹#›</a:t>
            </a:fld>
            <a:endParaRPr lang="en-IN"/>
          </a:p>
        </p:txBody>
      </p:sp>
    </p:spTree>
    <p:extLst>
      <p:ext uri="{BB962C8B-B14F-4D97-AF65-F5344CB8AC3E}">
        <p14:creationId xmlns:p14="http://schemas.microsoft.com/office/powerpoint/2010/main" val="27624942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82B03-AA02-C63B-4C3C-48F6A2395A54}"/>
              </a:ext>
            </a:extLst>
          </p:cNvPr>
          <p:cNvSpPr>
            <a:spLocks noGrp="1"/>
          </p:cNvSpPr>
          <p:nvPr>
            <p:ph type="ctrTitle"/>
          </p:nvPr>
        </p:nvSpPr>
        <p:spPr/>
        <p:txBody>
          <a:bodyPr/>
          <a:lstStyle/>
          <a:p>
            <a:r>
              <a:rPr lang="en-IN" dirty="0">
                <a:solidFill>
                  <a:schemeClr val="tx1"/>
                </a:solidFill>
              </a:rPr>
              <a:t>PASSWORD SECURITY &amp; CRACKING ANALYSIS</a:t>
            </a:r>
          </a:p>
        </p:txBody>
      </p:sp>
      <p:sp>
        <p:nvSpPr>
          <p:cNvPr id="3" name="Subtitle 2">
            <a:extLst>
              <a:ext uri="{FF2B5EF4-FFF2-40B4-BE49-F238E27FC236}">
                <a16:creationId xmlns:a16="http://schemas.microsoft.com/office/drawing/2014/main" id="{2F2C4060-0F1D-B2C9-E9DC-994B30047F0A}"/>
              </a:ext>
            </a:extLst>
          </p:cNvPr>
          <p:cNvSpPr>
            <a:spLocks noGrp="1"/>
          </p:cNvSpPr>
          <p:nvPr>
            <p:ph type="subTitle" idx="1"/>
          </p:nvPr>
        </p:nvSpPr>
        <p:spPr/>
        <p:txBody>
          <a:bodyPr/>
          <a:lstStyle/>
          <a:p>
            <a:r>
              <a:rPr lang="en-IN" dirty="0"/>
              <a:t>~Gargi Surse</a:t>
            </a:r>
          </a:p>
          <a:p>
            <a:r>
              <a:rPr lang="en-IN" dirty="0"/>
              <a:t>Internship in  Cyber Security and Ethical Hacking</a:t>
            </a:r>
          </a:p>
        </p:txBody>
      </p:sp>
    </p:spTree>
    <p:extLst>
      <p:ext uri="{BB962C8B-B14F-4D97-AF65-F5344CB8AC3E}">
        <p14:creationId xmlns:p14="http://schemas.microsoft.com/office/powerpoint/2010/main" val="1055164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69848-9CBF-18A8-3F6A-A8040D229B00}"/>
              </a:ext>
            </a:extLst>
          </p:cNvPr>
          <p:cNvSpPr>
            <a:spLocks noGrp="1"/>
          </p:cNvSpPr>
          <p:nvPr>
            <p:ph type="title"/>
          </p:nvPr>
        </p:nvSpPr>
        <p:spPr/>
        <p:txBody>
          <a:bodyPr>
            <a:noAutofit/>
          </a:bodyPr>
          <a:lstStyle/>
          <a:p>
            <a:pPr algn="ctr"/>
            <a:r>
              <a:rPr lang="en-IN" sz="4400" dirty="0">
                <a:solidFill>
                  <a:schemeClr val="tx1"/>
                </a:solidFill>
              </a:rPr>
              <a:t>Introduction</a:t>
            </a:r>
            <a:br>
              <a:rPr lang="en-IN" sz="4400" dirty="0">
                <a:solidFill>
                  <a:schemeClr val="tx1"/>
                </a:solidFill>
              </a:rPr>
            </a:br>
            <a:endParaRPr lang="en-IN" sz="4400" dirty="0">
              <a:solidFill>
                <a:schemeClr val="tx1"/>
              </a:solidFill>
            </a:endParaRPr>
          </a:p>
        </p:txBody>
      </p:sp>
      <p:sp>
        <p:nvSpPr>
          <p:cNvPr id="3" name="Content Placeholder 2">
            <a:extLst>
              <a:ext uri="{FF2B5EF4-FFF2-40B4-BE49-F238E27FC236}">
                <a16:creationId xmlns:a16="http://schemas.microsoft.com/office/drawing/2014/main" id="{E75623F0-1F42-83CC-DE3F-D19A47E24CE6}"/>
              </a:ext>
            </a:extLst>
          </p:cNvPr>
          <p:cNvSpPr>
            <a:spLocks noGrp="1"/>
          </p:cNvSpPr>
          <p:nvPr>
            <p:ph idx="1"/>
          </p:nvPr>
        </p:nvSpPr>
        <p:spPr/>
        <p:txBody>
          <a:bodyPr/>
          <a:lstStyle/>
          <a:p>
            <a:r>
              <a:rPr lang="en-US" dirty="0"/>
              <a:t>Password security is one of the most important aspects of cybersecurity. Weak passwords can be easily guessed or compromised, leading to unauthorized access to systems and sensitive information.</a:t>
            </a:r>
          </a:p>
          <a:p>
            <a:endParaRPr lang="en-US" dirty="0"/>
          </a:p>
          <a:p>
            <a:r>
              <a:rPr lang="en-US" dirty="0"/>
              <a:t>This project focuses on analyzing password strength, understanding password hashing techniques, and evaluating how weak passwords are vulnerable to common attack methods. The project also demonstrates secure password generation and highlights the importance of strong authentication mechanisms.</a:t>
            </a:r>
            <a:endParaRPr lang="en-IN" dirty="0"/>
          </a:p>
        </p:txBody>
      </p:sp>
    </p:spTree>
    <p:extLst>
      <p:ext uri="{BB962C8B-B14F-4D97-AF65-F5344CB8AC3E}">
        <p14:creationId xmlns:p14="http://schemas.microsoft.com/office/powerpoint/2010/main" val="1872078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7C238-1E73-5211-2E32-D2E41191151C}"/>
              </a:ext>
            </a:extLst>
          </p:cNvPr>
          <p:cNvSpPr>
            <a:spLocks noGrp="1"/>
          </p:cNvSpPr>
          <p:nvPr>
            <p:ph type="title"/>
          </p:nvPr>
        </p:nvSpPr>
        <p:spPr/>
        <p:txBody>
          <a:bodyPr>
            <a:normAutofit/>
          </a:bodyPr>
          <a:lstStyle/>
          <a:p>
            <a:pPr algn="ctr"/>
            <a:r>
              <a:rPr lang="en-IN" sz="4400" dirty="0">
                <a:solidFill>
                  <a:schemeClr val="tx1"/>
                </a:solidFill>
              </a:rPr>
              <a:t>Tools Used</a:t>
            </a:r>
          </a:p>
        </p:txBody>
      </p:sp>
      <p:sp>
        <p:nvSpPr>
          <p:cNvPr id="3" name="Content Placeholder 2">
            <a:extLst>
              <a:ext uri="{FF2B5EF4-FFF2-40B4-BE49-F238E27FC236}">
                <a16:creationId xmlns:a16="http://schemas.microsoft.com/office/drawing/2014/main" id="{DC9DFBBB-0ACC-F222-65DC-5743231F99E6}"/>
              </a:ext>
            </a:extLst>
          </p:cNvPr>
          <p:cNvSpPr>
            <a:spLocks noGrp="1"/>
          </p:cNvSpPr>
          <p:nvPr>
            <p:ph idx="1"/>
          </p:nvPr>
        </p:nvSpPr>
        <p:spPr/>
        <p:txBody>
          <a:bodyPr>
            <a:normAutofit/>
          </a:bodyPr>
          <a:lstStyle/>
          <a:p>
            <a:r>
              <a:rPr lang="en-US" sz="2000" dirty="0"/>
              <a:t>The following tools and technologies were used in this project:</a:t>
            </a:r>
          </a:p>
          <a:p>
            <a:endParaRPr lang="en-US" sz="2000" dirty="0"/>
          </a:p>
          <a:p>
            <a:pPr marL="400050" lvl="1" indent="0">
              <a:buNone/>
            </a:pPr>
            <a:r>
              <a:rPr lang="en-US" sz="1800" dirty="0"/>
              <a:t>• Linux Operating System</a:t>
            </a:r>
          </a:p>
          <a:p>
            <a:pPr marL="400050" lvl="1" indent="0">
              <a:buNone/>
            </a:pPr>
            <a:r>
              <a:rPr lang="en-US" sz="1800" dirty="0"/>
              <a:t>• Terminal / Command Line Interface</a:t>
            </a:r>
          </a:p>
          <a:p>
            <a:pPr marL="400050" lvl="1" indent="0">
              <a:buNone/>
            </a:pPr>
            <a:r>
              <a:rPr lang="en-US" sz="1800" dirty="0"/>
              <a:t>• SHA-256 Hashing Utility</a:t>
            </a:r>
          </a:p>
          <a:p>
            <a:pPr marL="400050" lvl="1" indent="0">
              <a:buNone/>
            </a:pPr>
            <a:r>
              <a:rPr lang="en-US" sz="1800" dirty="0"/>
              <a:t>• OpenSSL</a:t>
            </a:r>
          </a:p>
          <a:p>
            <a:pPr marL="400050" lvl="1" indent="0">
              <a:buNone/>
            </a:pPr>
            <a:r>
              <a:rPr lang="en-US" sz="1800" dirty="0"/>
              <a:t>• Microsoft Excel</a:t>
            </a:r>
          </a:p>
          <a:p>
            <a:pPr marL="400050" lvl="1" indent="0">
              <a:buNone/>
            </a:pPr>
            <a:r>
              <a:rPr lang="en-US" sz="1800" dirty="0"/>
              <a:t>• Python</a:t>
            </a:r>
          </a:p>
          <a:p>
            <a:pPr marL="400050" lvl="1" indent="0">
              <a:buNone/>
            </a:pPr>
            <a:r>
              <a:rPr lang="en-US" sz="1800" dirty="0"/>
              <a:t>• GitHub for project documentation and submission</a:t>
            </a:r>
            <a:endParaRPr lang="en-IN" sz="1800" dirty="0"/>
          </a:p>
        </p:txBody>
      </p:sp>
    </p:spTree>
    <p:extLst>
      <p:ext uri="{BB962C8B-B14F-4D97-AF65-F5344CB8AC3E}">
        <p14:creationId xmlns:p14="http://schemas.microsoft.com/office/powerpoint/2010/main" val="2697023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A9751-0C03-866A-B641-D8B625FC0627}"/>
              </a:ext>
            </a:extLst>
          </p:cNvPr>
          <p:cNvSpPr>
            <a:spLocks noGrp="1"/>
          </p:cNvSpPr>
          <p:nvPr>
            <p:ph type="title"/>
          </p:nvPr>
        </p:nvSpPr>
        <p:spPr/>
        <p:txBody>
          <a:bodyPr>
            <a:normAutofit/>
          </a:bodyPr>
          <a:lstStyle/>
          <a:p>
            <a:pPr algn="ctr"/>
            <a:r>
              <a:rPr lang="en-IN" sz="4400" dirty="0">
                <a:solidFill>
                  <a:schemeClr val="tx1"/>
                </a:solidFill>
              </a:rPr>
              <a:t>Commands Used</a:t>
            </a:r>
          </a:p>
        </p:txBody>
      </p:sp>
      <p:sp>
        <p:nvSpPr>
          <p:cNvPr id="3" name="Content Placeholder 2">
            <a:extLst>
              <a:ext uri="{FF2B5EF4-FFF2-40B4-BE49-F238E27FC236}">
                <a16:creationId xmlns:a16="http://schemas.microsoft.com/office/drawing/2014/main" id="{11F558A9-DB68-2C77-8A67-19F6549FA620}"/>
              </a:ext>
            </a:extLst>
          </p:cNvPr>
          <p:cNvSpPr>
            <a:spLocks noGrp="1"/>
          </p:cNvSpPr>
          <p:nvPr>
            <p:ph idx="1"/>
          </p:nvPr>
        </p:nvSpPr>
        <p:spPr>
          <a:xfrm>
            <a:off x="742649" y="1930400"/>
            <a:ext cx="8596668" cy="4697411"/>
          </a:xfrm>
        </p:spPr>
        <p:txBody>
          <a:bodyPr>
            <a:normAutofit fontScale="25000" lnSpcReduction="20000"/>
          </a:bodyPr>
          <a:lstStyle/>
          <a:p>
            <a:r>
              <a:rPr lang="en-IN" sz="7200" dirty="0"/>
              <a:t>The following commands were used during the project:</a:t>
            </a:r>
          </a:p>
          <a:p>
            <a:endParaRPr lang="en-IN" dirty="0"/>
          </a:p>
          <a:p>
            <a:pPr marL="0" indent="0">
              <a:buNone/>
            </a:pPr>
            <a:r>
              <a:rPr lang="en-IN" sz="5600" dirty="0"/>
              <a:t>echo -n "123456" | sha256sum</a:t>
            </a:r>
          </a:p>
          <a:p>
            <a:pPr marL="0" indent="0">
              <a:buNone/>
            </a:pPr>
            <a:r>
              <a:rPr lang="en-IN" sz="5600" dirty="0"/>
              <a:t>- Used to generate SHA-256 hash of a sample password.</a:t>
            </a:r>
          </a:p>
          <a:p>
            <a:endParaRPr lang="en-IN" sz="5600" dirty="0"/>
          </a:p>
          <a:p>
            <a:pPr marL="0" indent="0">
              <a:buNone/>
            </a:pPr>
            <a:r>
              <a:rPr lang="en-IN" sz="5600" dirty="0"/>
              <a:t>echo -n "password" | sha256sum</a:t>
            </a:r>
          </a:p>
          <a:p>
            <a:pPr marL="0" indent="0">
              <a:buNone/>
            </a:pPr>
            <a:r>
              <a:rPr lang="en-IN" sz="5600" dirty="0"/>
              <a:t>- Used to generate SHA-256 hash of a sample password.</a:t>
            </a:r>
          </a:p>
          <a:p>
            <a:endParaRPr lang="en-IN" sz="5600" dirty="0"/>
          </a:p>
          <a:p>
            <a:pPr marL="0" indent="0">
              <a:buNone/>
            </a:pPr>
            <a:r>
              <a:rPr lang="en-IN" sz="5600" dirty="0"/>
              <a:t>echo -n "G@rgi#Intern2026" | sha256sum</a:t>
            </a:r>
          </a:p>
          <a:p>
            <a:pPr marL="0" indent="0">
              <a:buNone/>
            </a:pPr>
            <a:r>
              <a:rPr lang="en-IN" sz="5600" dirty="0"/>
              <a:t>- Used to generate SHA-256 hash of a strong password.</a:t>
            </a:r>
          </a:p>
          <a:p>
            <a:endParaRPr lang="en-IN" sz="5600" dirty="0"/>
          </a:p>
          <a:p>
            <a:pPr marL="0" indent="0">
              <a:buNone/>
            </a:pPr>
            <a:r>
              <a:rPr lang="en-IN" sz="5600" dirty="0" err="1"/>
              <a:t>openssl</a:t>
            </a:r>
            <a:r>
              <a:rPr lang="en-IN" sz="5600" dirty="0"/>
              <a:t> rand -base64 12</a:t>
            </a:r>
          </a:p>
          <a:p>
            <a:pPr marL="0" indent="0">
              <a:buNone/>
            </a:pPr>
            <a:r>
              <a:rPr lang="en-IN" sz="5600" dirty="0"/>
              <a:t>- Used to generate strong random passwords.</a:t>
            </a:r>
          </a:p>
          <a:p>
            <a:endParaRPr lang="en-IN" sz="5600" dirty="0"/>
          </a:p>
          <a:p>
            <a:pPr marL="0" indent="0">
              <a:buNone/>
            </a:pPr>
            <a:r>
              <a:rPr lang="en-IN" sz="5600" dirty="0"/>
              <a:t>python3 password_checker.py</a:t>
            </a:r>
          </a:p>
          <a:p>
            <a:pPr marL="0" indent="0">
              <a:buNone/>
            </a:pPr>
            <a:r>
              <a:rPr lang="en-IN" sz="5600" dirty="0"/>
              <a:t>- Used to execute password strength analysis scrip</a:t>
            </a:r>
            <a:r>
              <a:rPr lang="en-IN" sz="7200" dirty="0"/>
              <a:t>t</a:t>
            </a:r>
            <a:r>
              <a:rPr lang="en-IN" sz="3800" dirty="0"/>
              <a:t>.</a:t>
            </a:r>
          </a:p>
        </p:txBody>
      </p:sp>
    </p:spTree>
    <p:extLst>
      <p:ext uri="{BB962C8B-B14F-4D97-AF65-F5344CB8AC3E}">
        <p14:creationId xmlns:p14="http://schemas.microsoft.com/office/powerpoint/2010/main" val="2568917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52DC8-18C8-FD0E-E94E-69C9B748116D}"/>
              </a:ext>
            </a:extLst>
          </p:cNvPr>
          <p:cNvSpPr>
            <a:spLocks noGrp="1"/>
          </p:cNvSpPr>
          <p:nvPr>
            <p:ph type="title"/>
          </p:nvPr>
        </p:nvSpPr>
        <p:spPr/>
        <p:txBody>
          <a:bodyPr>
            <a:normAutofit/>
          </a:bodyPr>
          <a:lstStyle/>
          <a:p>
            <a:pPr algn="ctr"/>
            <a:r>
              <a:rPr lang="en-IN" sz="4400" dirty="0">
                <a:solidFill>
                  <a:schemeClr val="tx1"/>
                </a:solidFill>
              </a:rPr>
              <a:t>Password Analysis</a:t>
            </a:r>
          </a:p>
        </p:txBody>
      </p:sp>
      <p:sp>
        <p:nvSpPr>
          <p:cNvPr id="3" name="Content Placeholder 2">
            <a:extLst>
              <a:ext uri="{FF2B5EF4-FFF2-40B4-BE49-F238E27FC236}">
                <a16:creationId xmlns:a16="http://schemas.microsoft.com/office/drawing/2014/main" id="{1E509D45-3DAB-8A8D-26BF-52680F7F6A97}"/>
              </a:ext>
            </a:extLst>
          </p:cNvPr>
          <p:cNvSpPr>
            <a:spLocks noGrp="1"/>
          </p:cNvSpPr>
          <p:nvPr>
            <p:ph sz="half" idx="1"/>
          </p:nvPr>
        </p:nvSpPr>
        <p:spPr>
          <a:xfrm>
            <a:off x="677335" y="2160589"/>
            <a:ext cx="3232192" cy="3880772"/>
          </a:xfrm>
        </p:spPr>
        <p:txBody>
          <a:bodyPr>
            <a:normAutofit lnSpcReduction="10000"/>
          </a:bodyPr>
          <a:lstStyle/>
          <a:p>
            <a:r>
              <a:rPr lang="en-US" dirty="0"/>
              <a:t>Passwords were analyzed based on:</a:t>
            </a:r>
          </a:p>
          <a:p>
            <a:pPr marL="400050" lvl="1" indent="0">
              <a:buNone/>
            </a:pPr>
            <a:r>
              <a:rPr lang="en-US" dirty="0"/>
              <a:t>• Length</a:t>
            </a:r>
          </a:p>
          <a:p>
            <a:pPr marL="400050" lvl="1" indent="0">
              <a:buNone/>
            </a:pPr>
            <a:r>
              <a:rPr lang="en-US" dirty="0"/>
              <a:t>• Uppercase Letters</a:t>
            </a:r>
          </a:p>
          <a:p>
            <a:pPr marL="400050" lvl="1" indent="0">
              <a:buNone/>
            </a:pPr>
            <a:r>
              <a:rPr lang="en-US" dirty="0"/>
              <a:t>• Lowercase Letters</a:t>
            </a:r>
          </a:p>
          <a:p>
            <a:pPr marL="400050" lvl="1" indent="0">
              <a:buNone/>
            </a:pPr>
            <a:r>
              <a:rPr lang="en-US" dirty="0"/>
              <a:t>• Numbers</a:t>
            </a:r>
          </a:p>
          <a:p>
            <a:pPr marL="400050" lvl="1" indent="0">
              <a:buNone/>
            </a:pPr>
            <a:r>
              <a:rPr lang="en-US" dirty="0"/>
              <a:t>• Special Characters</a:t>
            </a:r>
          </a:p>
          <a:p>
            <a:endParaRPr lang="en-US" dirty="0"/>
          </a:p>
          <a:p>
            <a:r>
              <a:rPr lang="en-US" dirty="0"/>
              <a:t>Based on these factors, passwords were categorized as Weak, Medium, and Strong.</a:t>
            </a:r>
            <a:endParaRPr lang="en-IN" dirty="0"/>
          </a:p>
        </p:txBody>
      </p:sp>
      <p:pic>
        <p:nvPicPr>
          <p:cNvPr id="6" name="Content Placeholder 5">
            <a:extLst>
              <a:ext uri="{FF2B5EF4-FFF2-40B4-BE49-F238E27FC236}">
                <a16:creationId xmlns:a16="http://schemas.microsoft.com/office/drawing/2014/main" id="{C7621AF1-474A-78E1-575B-85F09B34B2C4}"/>
              </a:ext>
            </a:extLst>
          </p:cNvPr>
          <p:cNvPicPr>
            <a:picLocks noGrp="1" noChangeAspect="1"/>
          </p:cNvPicPr>
          <p:nvPr>
            <p:ph sz="half" idx="2"/>
          </p:nvPr>
        </p:nvPicPr>
        <p:blipFill>
          <a:blip r:embed="rId2"/>
          <a:stretch>
            <a:fillRect/>
          </a:stretch>
        </p:blipFill>
        <p:spPr>
          <a:xfrm>
            <a:off x="4003777" y="2347201"/>
            <a:ext cx="5552045" cy="3111207"/>
          </a:xfrm>
          <a:prstGeom prst="rect">
            <a:avLst/>
          </a:prstGeom>
          <a:ln>
            <a:solidFill>
              <a:schemeClr val="tx1"/>
            </a:solidFill>
          </a:ln>
        </p:spPr>
      </p:pic>
    </p:spTree>
    <p:extLst>
      <p:ext uri="{BB962C8B-B14F-4D97-AF65-F5344CB8AC3E}">
        <p14:creationId xmlns:p14="http://schemas.microsoft.com/office/powerpoint/2010/main" val="2120069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034E7-50A9-8E65-CAC3-C124824B0364}"/>
              </a:ext>
            </a:extLst>
          </p:cNvPr>
          <p:cNvSpPr>
            <a:spLocks noGrp="1"/>
          </p:cNvSpPr>
          <p:nvPr>
            <p:ph type="title"/>
          </p:nvPr>
        </p:nvSpPr>
        <p:spPr/>
        <p:txBody>
          <a:bodyPr>
            <a:normAutofit/>
          </a:bodyPr>
          <a:lstStyle/>
          <a:p>
            <a:pPr algn="ctr"/>
            <a:r>
              <a:rPr lang="en-IN" sz="4400" dirty="0">
                <a:solidFill>
                  <a:schemeClr val="tx1"/>
                </a:solidFill>
              </a:rPr>
              <a:t>Output Screenshots</a:t>
            </a:r>
          </a:p>
        </p:txBody>
      </p:sp>
      <p:pic>
        <p:nvPicPr>
          <p:cNvPr id="4" name="Picture 3">
            <a:extLst>
              <a:ext uri="{FF2B5EF4-FFF2-40B4-BE49-F238E27FC236}">
                <a16:creationId xmlns:a16="http://schemas.microsoft.com/office/drawing/2014/main" id="{D17B2412-E122-51AB-97C3-D66AE2F8F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1700442"/>
            <a:ext cx="5989839" cy="2034716"/>
          </a:xfrm>
          <a:prstGeom prst="rect">
            <a:avLst/>
          </a:prstGeom>
        </p:spPr>
      </p:pic>
      <p:pic>
        <p:nvPicPr>
          <p:cNvPr id="6" name="Picture 5">
            <a:extLst>
              <a:ext uri="{FF2B5EF4-FFF2-40B4-BE49-F238E27FC236}">
                <a16:creationId xmlns:a16="http://schemas.microsoft.com/office/drawing/2014/main" id="{4C50A552-D7E4-10E5-A20D-0E1FCDD752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4" y="3797211"/>
            <a:ext cx="3924640" cy="2057578"/>
          </a:xfrm>
          <a:prstGeom prst="rect">
            <a:avLst/>
          </a:prstGeom>
        </p:spPr>
      </p:pic>
      <p:pic>
        <p:nvPicPr>
          <p:cNvPr id="8" name="Picture 7">
            <a:extLst>
              <a:ext uri="{FF2B5EF4-FFF2-40B4-BE49-F238E27FC236}">
                <a16:creationId xmlns:a16="http://schemas.microsoft.com/office/drawing/2014/main" id="{B5EADE66-8534-5AE0-EC70-31F0AACBB2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0091" y="3797211"/>
            <a:ext cx="4359018" cy="2530059"/>
          </a:xfrm>
          <a:prstGeom prst="rect">
            <a:avLst/>
          </a:prstGeom>
        </p:spPr>
      </p:pic>
    </p:spTree>
    <p:extLst>
      <p:ext uri="{BB962C8B-B14F-4D97-AF65-F5344CB8AC3E}">
        <p14:creationId xmlns:p14="http://schemas.microsoft.com/office/powerpoint/2010/main" val="1628199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26CC4-3FB9-97F3-B497-E3FC62FCD1FD}"/>
              </a:ext>
            </a:extLst>
          </p:cNvPr>
          <p:cNvSpPr>
            <a:spLocks noGrp="1"/>
          </p:cNvSpPr>
          <p:nvPr>
            <p:ph type="title"/>
          </p:nvPr>
        </p:nvSpPr>
        <p:spPr/>
        <p:txBody>
          <a:bodyPr>
            <a:normAutofit/>
          </a:bodyPr>
          <a:lstStyle/>
          <a:p>
            <a:pPr algn="ctr"/>
            <a:r>
              <a:rPr lang="en-IN" sz="4400" dirty="0">
                <a:solidFill>
                  <a:schemeClr val="tx1"/>
                </a:solidFill>
              </a:rPr>
              <a:t>Findings</a:t>
            </a:r>
          </a:p>
        </p:txBody>
      </p:sp>
      <p:sp>
        <p:nvSpPr>
          <p:cNvPr id="3" name="Content Placeholder 2">
            <a:extLst>
              <a:ext uri="{FF2B5EF4-FFF2-40B4-BE49-F238E27FC236}">
                <a16:creationId xmlns:a16="http://schemas.microsoft.com/office/drawing/2014/main" id="{E427B497-718D-5071-8E6A-010B130B20D5}"/>
              </a:ext>
            </a:extLst>
          </p:cNvPr>
          <p:cNvSpPr>
            <a:spLocks noGrp="1"/>
          </p:cNvSpPr>
          <p:nvPr>
            <p:ph idx="1"/>
          </p:nvPr>
        </p:nvSpPr>
        <p:spPr/>
        <p:txBody>
          <a:bodyPr/>
          <a:lstStyle/>
          <a:p>
            <a:r>
              <a:rPr lang="en-US" dirty="0"/>
              <a:t>Passwords containing only numbers or common words were weak.</a:t>
            </a:r>
          </a:p>
          <a:p>
            <a:r>
              <a:rPr lang="en-US" dirty="0"/>
              <a:t> Passwords based on names and predictable patterns were vulnerable.</a:t>
            </a:r>
          </a:p>
          <a:p>
            <a:r>
              <a:rPr lang="en-US" dirty="0"/>
              <a:t> Passwords containing uppercase letters, lowercase letters, numbers, and special characters were stronger.</a:t>
            </a:r>
          </a:p>
          <a:p>
            <a:r>
              <a:rPr lang="en-US" dirty="0"/>
              <a:t> SHA-256 hashing converted passwords into secure hash values.</a:t>
            </a:r>
          </a:p>
          <a:p>
            <a:r>
              <a:rPr lang="en-US" dirty="0"/>
              <a:t> Randomly generated passwords provided better protection against attacks.</a:t>
            </a:r>
            <a:endParaRPr lang="en-IN" dirty="0"/>
          </a:p>
        </p:txBody>
      </p:sp>
    </p:spTree>
    <p:extLst>
      <p:ext uri="{BB962C8B-B14F-4D97-AF65-F5344CB8AC3E}">
        <p14:creationId xmlns:p14="http://schemas.microsoft.com/office/powerpoint/2010/main" val="141181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35A75-0C0E-7658-959A-FE93BFE6CD12}"/>
              </a:ext>
            </a:extLst>
          </p:cNvPr>
          <p:cNvSpPr>
            <a:spLocks noGrp="1"/>
          </p:cNvSpPr>
          <p:nvPr>
            <p:ph type="title"/>
          </p:nvPr>
        </p:nvSpPr>
        <p:spPr/>
        <p:txBody>
          <a:bodyPr>
            <a:normAutofit/>
          </a:bodyPr>
          <a:lstStyle/>
          <a:p>
            <a:pPr algn="ctr"/>
            <a:r>
              <a:rPr lang="en-IN" sz="4400" dirty="0">
                <a:solidFill>
                  <a:schemeClr val="tx1"/>
                </a:solidFill>
              </a:rPr>
              <a:t>Conclusion</a:t>
            </a:r>
          </a:p>
        </p:txBody>
      </p:sp>
      <p:sp>
        <p:nvSpPr>
          <p:cNvPr id="3" name="Content Placeholder 2">
            <a:extLst>
              <a:ext uri="{FF2B5EF4-FFF2-40B4-BE49-F238E27FC236}">
                <a16:creationId xmlns:a16="http://schemas.microsoft.com/office/drawing/2014/main" id="{05C8034C-43DF-7034-CE18-00D2EFC6D8B0}"/>
              </a:ext>
            </a:extLst>
          </p:cNvPr>
          <p:cNvSpPr>
            <a:spLocks noGrp="1"/>
          </p:cNvSpPr>
          <p:nvPr>
            <p:ph idx="1"/>
          </p:nvPr>
        </p:nvSpPr>
        <p:spPr/>
        <p:txBody>
          <a:bodyPr/>
          <a:lstStyle/>
          <a:p>
            <a:r>
              <a:rPr lang="en-US" dirty="0"/>
              <a:t>This project helped in understanding password security concepts, password hashing techniques, and the importance of strong authentication mechanisms.</a:t>
            </a:r>
          </a:p>
          <a:p>
            <a:endParaRPr lang="en-US" dirty="0"/>
          </a:p>
          <a:p>
            <a:r>
              <a:rPr lang="en-US" dirty="0"/>
              <a:t>The practical implementation improved knowledge about password analysis, password protection methods, and cybersecurity best practices.</a:t>
            </a:r>
          </a:p>
          <a:p>
            <a:endParaRPr lang="en-US" dirty="0"/>
          </a:p>
          <a:p>
            <a:r>
              <a:rPr lang="en-US" dirty="0"/>
              <a:t>The project also provided hands-on experience in using Linux commands, generating secure passwords, and documenting cybersecurity findings professionally.</a:t>
            </a:r>
            <a:endParaRPr lang="en-IN" dirty="0"/>
          </a:p>
        </p:txBody>
      </p:sp>
    </p:spTree>
    <p:extLst>
      <p:ext uri="{BB962C8B-B14F-4D97-AF65-F5344CB8AC3E}">
        <p14:creationId xmlns:p14="http://schemas.microsoft.com/office/powerpoint/2010/main" val="413085065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81</TotalTime>
  <Words>389</Words>
  <Application>Microsoft Office PowerPoint</Application>
  <PresentationFormat>Widescreen</PresentationFormat>
  <Paragraphs>56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Trebuchet MS</vt:lpstr>
      <vt:lpstr>Wingdings 3</vt:lpstr>
      <vt:lpstr>Facet</vt:lpstr>
      <vt:lpstr>PASSWORD SECURITY &amp; CRACKING ANALYSIS</vt:lpstr>
      <vt:lpstr>Introduction </vt:lpstr>
      <vt:lpstr>Tools Used</vt:lpstr>
      <vt:lpstr>Commands Used</vt:lpstr>
      <vt:lpstr>Password Analysis</vt:lpstr>
      <vt:lpstr>Output Screenshots</vt:lpstr>
      <vt:lpstr>Findings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Gargi Surse</dc:creator>
  <cp:lastModifiedBy>Gargi Surse</cp:lastModifiedBy>
  <cp:revision>2</cp:revision>
  <dcterms:created xsi:type="dcterms:W3CDTF">2026-06-08T06:12:45Z</dcterms:created>
  <dcterms:modified xsi:type="dcterms:W3CDTF">2026-06-08T07:34:25Z</dcterms:modified>
</cp:coreProperties>
</file>